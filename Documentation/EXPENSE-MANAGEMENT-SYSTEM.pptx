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66" r:id="rId2"/>
    <p:sldId id="256" r:id="rId3"/>
    <p:sldId id="257" r:id="rId4"/>
    <p:sldId id="258" r:id="rId5"/>
    <p:sldId id="259" r:id="rId6"/>
    <p:sldId id="260" r:id="rId7"/>
    <p:sldId id="262" r:id="rId8"/>
    <p:sldId id="261" r:id="rId9"/>
    <p:sldId id="270" r:id="rId10"/>
    <p:sldId id="268" r:id="rId11"/>
    <p:sldId id="271" r:id="rId12"/>
    <p:sldId id="269" r:id="rId13"/>
    <p:sldId id="264" r:id="rId14"/>
    <p:sldId id="265" r:id="rId15"/>
  </p:sldIdLst>
  <p:sldSz cx="14630400" cy="8229600"/>
  <p:notesSz cx="8229600" cy="146304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Microsoft Himalaya" panose="01010100010101010101" pitchFamily="2" charset="0"/>
      <p:regular r:id="rId21"/>
    </p:embeddedFont>
    <p:embeddedFont>
      <p:font typeface="Tomorrow" panose="020B0604020202020204" charset="0"/>
      <p:regular r:id="rId22"/>
    </p:embeddedFont>
    <p:embeddedFont>
      <p:font typeface="Tomorrow Semi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BDD1ECD-4868-4122-AB3F-BAA5EE07ECD2}">
          <p14:sldIdLst>
            <p14:sldId id="266"/>
            <p14:sldId id="256"/>
            <p14:sldId id="257"/>
            <p14:sldId id="258"/>
            <p14:sldId id="259"/>
            <p14:sldId id="260"/>
            <p14:sldId id="262"/>
            <p14:sldId id="261"/>
            <p14:sldId id="270"/>
            <p14:sldId id="268"/>
            <p14:sldId id="271"/>
            <p14:sldId id="269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522" y="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7649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10B71-7170-943C-B90B-F096D50F0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8DE1E6-96E6-4375-45A0-353560F05C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0E5680-B60B-C805-1BE0-3BA166FED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53A9D-97BA-60D5-3EE9-EC4B75D14E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5028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9EC8A-CC3B-3566-6F38-70530D083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8A90B5-99EB-8E09-883F-F8C962AE0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DF0397-A667-8DD1-622E-978E368C0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DB8474-46AD-FCCC-BC30-BDA8B145A7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13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7C89C-2FD7-8156-B60B-6CC4CC0D8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7E0699-5010-20A8-4AFF-30B6F1D13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B9F47-E37B-727B-CC61-B479E107B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507AE-8256-3A24-7156-925EBBD7DA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6199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4E8BC-E920-820D-79E7-16D419065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27282E-B7EA-514A-18D1-2624B9E7AB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2254B1-55DE-80AC-AC0F-BD11A973A4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63772-AB3B-2B1C-55D7-706680AB66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4231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://localhost/ExpenseManagement/" TargetMode="External"/><Relationship Id="rId5" Type="http://schemas.openxmlformats.org/officeDocument/2006/relationships/hyperlink" Target="https://svgsilh.com/image/1119306.html" TargetMode="External"/><Relationship Id="rId10" Type="http://schemas.openxmlformats.org/officeDocument/2006/relationships/image" Target="../media/image3.png"/><Relationship Id="rId4" Type="http://schemas.openxmlformats.org/officeDocument/2006/relationships/image" Target="../media/image20.svg"/><Relationship Id="rId9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312E20-C1F7-B23B-B8FB-DD809BE7D703}"/>
              </a:ext>
            </a:extLst>
          </p:cNvPr>
          <p:cNvSpPr txBox="1"/>
          <p:nvPr/>
        </p:nvSpPr>
        <p:spPr>
          <a:xfrm>
            <a:off x="2603809" y="925550"/>
            <a:ext cx="94227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accent2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GOVERNMENT ARTS AND SCIENCE COLLEGE, NEMMELI</a:t>
            </a:r>
            <a:endParaRPr lang="en-IN" sz="4000" dirty="0">
              <a:solidFill>
                <a:schemeClr val="accent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54E37E-254D-A97E-AC78-89BC7C98E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912" y="2795234"/>
            <a:ext cx="3189250" cy="28434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CB8524-AD15-D475-A07E-3987FED8EF51}"/>
              </a:ext>
            </a:extLst>
          </p:cNvPr>
          <p:cNvSpPr txBox="1"/>
          <p:nvPr/>
        </p:nvSpPr>
        <p:spPr>
          <a:xfrm>
            <a:off x="1196569" y="6277257"/>
            <a:ext cx="39837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bg2"/>
                </a:solidFill>
                <a:latin typeface="Bookman Old Style" panose="02050604050505020204" pitchFamily="18" charset="0"/>
              </a:rPr>
              <a:t>PROJECT GUIDE</a:t>
            </a:r>
          </a:p>
          <a:p>
            <a:endParaRPr lang="en-IN" dirty="0">
              <a:solidFill>
                <a:schemeClr val="bg2"/>
              </a:solidFill>
            </a:endParaRPr>
          </a:p>
          <a:p>
            <a:r>
              <a:rPr lang="en-US" sz="1800" b="1" kern="100" dirty="0">
                <a:solidFill>
                  <a:schemeClr val="bg2"/>
                </a:solidFill>
                <a:effectLst/>
                <a:latin typeface="Tomorrow" panose="020B0604020202020204" charset="0"/>
                <a:ea typeface="Calibri" panose="020F0502020204030204" pitchFamily="34" charset="0"/>
                <a:cs typeface="Arial-BoldMT"/>
              </a:rPr>
              <a:t>Mrs. K. THANGAMARI MCA., M.Phil.,</a:t>
            </a:r>
            <a:endParaRPr lang="en-IN" sz="1800" kern="100" dirty="0">
              <a:solidFill>
                <a:schemeClr val="bg2"/>
              </a:solidFill>
              <a:effectLst/>
              <a:latin typeface="Tomorrow" panose="020B0604020202020204" charset="0"/>
              <a:ea typeface="Calibri" panose="020F0502020204030204" pitchFamily="34" charset="0"/>
              <a:cs typeface="Latha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9BEEFC-564B-0AEF-1ACD-BA9590CEDB01}"/>
              </a:ext>
            </a:extLst>
          </p:cNvPr>
          <p:cNvSpPr txBox="1"/>
          <p:nvPr/>
        </p:nvSpPr>
        <p:spPr>
          <a:xfrm>
            <a:off x="8523788" y="6236861"/>
            <a:ext cx="5227713" cy="10041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bg2"/>
                </a:solidFill>
                <a:latin typeface="Bookman Old Style" panose="02050604050505020204" pitchFamily="18" charset="0"/>
              </a:rPr>
              <a:t>TEAM</a:t>
            </a:r>
            <a:r>
              <a:rPr lang="en-IN" dirty="0">
                <a:latin typeface="Bookman Old Style" panose="02050604050505020204" pitchFamily="18" charset="0"/>
              </a:rPr>
              <a:t> </a:t>
            </a:r>
            <a:r>
              <a:rPr lang="en-IN" dirty="0">
                <a:solidFill>
                  <a:schemeClr val="bg2"/>
                </a:solidFill>
                <a:latin typeface="Bookman Old Style" panose="02050604050505020204" pitchFamily="18" charset="0"/>
              </a:rPr>
              <a:t>MEMBERS</a:t>
            </a:r>
          </a:p>
          <a:p>
            <a:endParaRPr lang="en-IN" dirty="0"/>
          </a:p>
          <a:p>
            <a:pPr>
              <a:lnSpc>
                <a:spcPct val="150000"/>
              </a:lnSpc>
            </a:pPr>
            <a:r>
              <a:rPr lang="en-IN" b="1" kern="100" dirty="0">
                <a:solidFill>
                  <a:schemeClr val="bg2"/>
                </a:solidFill>
                <a:latin typeface="Tomorrow" panose="020B0604020202020204" charset="0"/>
                <a:ea typeface="Calibri" panose="020F0502020204030204" pitchFamily="34" charset="0"/>
              </a:rPr>
              <a:t>ARUN N  </a:t>
            </a:r>
            <a:r>
              <a:rPr lang="en-IN" b="1" kern="100" dirty="0">
                <a:solidFill>
                  <a:schemeClr val="accent5"/>
                </a:solidFill>
                <a:latin typeface="Tomorrow" panose="020B0604020202020204" charset="0"/>
                <a:ea typeface="Calibri" panose="020F0502020204030204" pitchFamily="34" charset="0"/>
              </a:rPr>
              <a:t>|</a:t>
            </a:r>
            <a:r>
              <a:rPr lang="en-IN" b="1" kern="100" dirty="0">
                <a:solidFill>
                  <a:schemeClr val="bg2"/>
                </a:solidFill>
                <a:latin typeface="Tomorrow" panose="020B0604020202020204" charset="0"/>
                <a:ea typeface="Calibri" panose="020F0502020204030204" pitchFamily="34" charset="0"/>
              </a:rPr>
              <a:t>  GOKULAKANNAN R  </a:t>
            </a:r>
            <a:r>
              <a:rPr lang="en-IN" b="1" kern="100" dirty="0">
                <a:solidFill>
                  <a:schemeClr val="accent5"/>
                </a:solidFill>
                <a:latin typeface="Tomorrow" panose="020B0604020202020204" charset="0"/>
                <a:ea typeface="Calibri" panose="020F0502020204030204" pitchFamily="34" charset="0"/>
              </a:rPr>
              <a:t>|</a:t>
            </a:r>
            <a:r>
              <a:rPr lang="en-IN" b="1" kern="100" dirty="0">
                <a:solidFill>
                  <a:schemeClr val="bg2"/>
                </a:solidFill>
                <a:latin typeface="Tomorrow" panose="020B0604020202020204" charset="0"/>
                <a:ea typeface="Calibri" panose="020F0502020204030204" pitchFamily="34" charset="0"/>
              </a:rPr>
              <a:t>  HARIHARAN 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35F655-FE3E-0E14-A8BB-DE51E9B2111F}"/>
              </a:ext>
            </a:extLst>
          </p:cNvPr>
          <p:cNvSpPr txBox="1"/>
          <p:nvPr/>
        </p:nvSpPr>
        <p:spPr>
          <a:xfrm>
            <a:off x="5027394" y="1633436"/>
            <a:ext cx="5609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accent5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FINAL YEAR PROJECT PRESENTATION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DFA261E-DAB2-D42D-FE6E-0BB4235D3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8573" y="7735633"/>
            <a:ext cx="2343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5134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7511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EXPENSE MANAGEMENT SYSTEM</a:t>
            </a:r>
            <a:endParaRPr lang="en-US" sz="4450" b="1" dirty="0"/>
          </a:p>
        </p:txBody>
      </p:sp>
      <p:sp>
        <p:nvSpPr>
          <p:cNvPr id="4" name="Text 1"/>
          <p:cNvSpPr/>
          <p:nvPr/>
        </p:nvSpPr>
        <p:spPr>
          <a:xfrm>
            <a:off x="793790" y="3632835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IN" sz="1750" dirty="0">
                <a:solidFill>
                  <a:srgbClr val="C9C9C0"/>
                </a:solidFill>
                <a:latin typeface="Tomorrow" pitchFamily="34" charset="0"/>
              </a:rPr>
              <a:t>your ultimate solution for effortless expense tracking.</a:t>
            </a:r>
            <a:endParaRPr lang="en-US" sz="1750" dirty="0">
              <a:solidFill>
                <a:srgbClr val="C9C9C0"/>
              </a:solidFill>
              <a:latin typeface="Tomorrow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89" y="435864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IN" sz="1750" dirty="0">
                <a:solidFill>
                  <a:srgbClr val="C9C9C0"/>
                </a:solidFill>
                <a:latin typeface="Tomorrow" pitchFamily="34" charset="0"/>
              </a:rPr>
              <a:t>With just a few clicks, take control of your finances like never before. Whether you're planning monthly expenses or keeping an eye on daily spending, our system ensures a smooth and organized experience.</a:t>
            </a:r>
            <a:endParaRPr lang="en-US" sz="1750" dirty="0">
              <a:solidFill>
                <a:srgbClr val="C9C9C0"/>
              </a:solidFill>
              <a:latin typeface="Tomorrow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270040" y="5957649"/>
            <a:ext cx="1161931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2453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Abstract: Streamlining Expense Management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78225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Expense Management System streamlines expense tracking using PHP and MySQL.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401835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</p:sp>
      <p:sp>
        <p:nvSpPr>
          <p:cNvPr id="6" name="Text 3"/>
          <p:cNvSpPr/>
          <p:nvPr/>
        </p:nvSpPr>
        <p:spPr>
          <a:xfrm>
            <a:off x="1530906" y="40183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450877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Secure authentication and personalized dashboards.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530906" y="5007769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Comprehensive expense tracking and dynamic reporting.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93790" y="585263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</p:sp>
      <p:sp>
        <p:nvSpPr>
          <p:cNvPr id="10" name="Text 7"/>
          <p:cNvSpPr/>
          <p:nvPr/>
        </p:nvSpPr>
        <p:spPr>
          <a:xfrm>
            <a:off x="1530906" y="58526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Benefits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530906" y="6343055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Better financial control and informed decisions.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530906" y="684204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Identification of cost-cutting areas.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36194"/>
            <a:ext cx="95076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System Overview &amp; Key Features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9860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 PHP-based web application designed for efficient expense tracking.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9434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52461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Expense tracking 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96681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Budgeting and planning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40900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Detailed reports (tabular and graphical)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85120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Secure data storage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9434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Benefits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9521" y="452461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Improved financial planning.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09158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Better savings and financial security.</a:t>
            </a:r>
            <a:endParaRPr lang="en-US" sz="17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D2B29F2-1000-0E76-EA69-E46A7CD4A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6923" y="7698259"/>
            <a:ext cx="2343477" cy="4382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367991" y="897164"/>
            <a:ext cx="5910147" cy="58047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2376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System Objectives &amp; Specifications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38148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system aims to provide a simple, powerful expense tracking tool.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2999542"/>
            <a:ext cx="7556421" cy="2191345"/>
          </a:xfrm>
          <a:prstGeom prst="roundRect">
            <a:avLst>
              <a:gd name="adj" fmla="val 1553"/>
            </a:avLst>
          </a:prstGeom>
          <a:solidFill>
            <a:srgbClr val="3C3C3A"/>
          </a:solidFill>
          <a:ln/>
        </p:spPr>
      </p:sp>
      <p:sp>
        <p:nvSpPr>
          <p:cNvPr id="6" name="Text 3"/>
          <p:cNvSpPr/>
          <p:nvPr/>
        </p:nvSpPr>
        <p:spPr>
          <a:xfrm>
            <a:off x="6507004" y="32263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07004" y="3716774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Simplified Financial Management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507004" y="4158972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Convenience and Accessibility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507004" y="4601170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Expense Categorization and Budgeting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417701"/>
            <a:ext cx="7556421" cy="2191345"/>
          </a:xfrm>
          <a:prstGeom prst="roundRect">
            <a:avLst>
              <a:gd name="adj" fmla="val 1553"/>
            </a:avLst>
          </a:prstGeom>
          <a:solidFill>
            <a:srgbClr val="3C3C3A"/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56445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Benefits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6134933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Accuracy and Data Security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507004" y="6577132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Financial Planning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6507004" y="7019330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Continuous Improvement</a:t>
            </a:r>
            <a:endParaRPr lang="en-US" sz="17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5CFF779-23E2-7B44-6C64-2533E8B243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6923" y="7733550"/>
            <a:ext cx="2343477" cy="438211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7926" y="614005"/>
            <a:ext cx="7580948" cy="1395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Requirements &amp; System Design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6267926" y="2344579"/>
            <a:ext cx="7580948" cy="714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Functional and non-functional requirements for the Expense Management System.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519148" y="3310414"/>
            <a:ext cx="30480" cy="4306253"/>
          </a:xfrm>
          <a:prstGeom prst="roundRect">
            <a:avLst>
              <a:gd name="adj" fmla="val 109898"/>
            </a:avLst>
          </a:prstGeom>
          <a:solidFill>
            <a:srgbClr val="555553"/>
          </a:solidFill>
          <a:ln/>
        </p:spPr>
      </p:sp>
      <p:sp>
        <p:nvSpPr>
          <p:cNvPr id="6" name="Shape 3"/>
          <p:cNvSpPr/>
          <p:nvPr/>
        </p:nvSpPr>
        <p:spPr>
          <a:xfrm>
            <a:off x="6739890" y="3797618"/>
            <a:ext cx="669846" cy="30480"/>
          </a:xfrm>
          <a:prstGeom prst="roundRect">
            <a:avLst>
              <a:gd name="adj" fmla="val 109898"/>
            </a:avLst>
          </a:prstGeom>
          <a:solidFill>
            <a:srgbClr val="555553"/>
          </a:solidFill>
          <a:ln/>
        </p:spPr>
      </p:sp>
      <p:sp>
        <p:nvSpPr>
          <p:cNvPr id="7" name="Shape 4"/>
          <p:cNvSpPr/>
          <p:nvPr/>
        </p:nvSpPr>
        <p:spPr>
          <a:xfrm>
            <a:off x="6267926" y="3561636"/>
            <a:ext cx="502444" cy="502444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687" y="3603546"/>
            <a:ext cx="334923" cy="4186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35716" y="3533656"/>
            <a:ext cx="279130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User Registration</a:t>
            </a:r>
            <a:endParaRPr lang="en-US" sz="2150" dirty="0"/>
          </a:p>
        </p:txBody>
      </p:sp>
      <p:sp>
        <p:nvSpPr>
          <p:cNvPr id="10" name="Text 6"/>
          <p:cNvSpPr/>
          <p:nvPr/>
        </p:nvSpPr>
        <p:spPr>
          <a:xfrm>
            <a:off x="7635716" y="4016454"/>
            <a:ext cx="6213157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Secure login.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6739890" y="5307449"/>
            <a:ext cx="669846" cy="30480"/>
          </a:xfrm>
          <a:prstGeom prst="roundRect">
            <a:avLst>
              <a:gd name="adj" fmla="val 109898"/>
            </a:avLst>
          </a:prstGeom>
          <a:solidFill>
            <a:srgbClr val="555553"/>
          </a:solidFill>
          <a:ln/>
        </p:spPr>
      </p:sp>
      <p:sp>
        <p:nvSpPr>
          <p:cNvPr id="12" name="Shape 8"/>
          <p:cNvSpPr/>
          <p:nvPr/>
        </p:nvSpPr>
        <p:spPr>
          <a:xfrm>
            <a:off x="6267926" y="5071467"/>
            <a:ext cx="502444" cy="502444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687" y="5113377"/>
            <a:ext cx="334923" cy="418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35716" y="5043488"/>
            <a:ext cx="279130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Expense Entry</a:t>
            </a:r>
            <a:endParaRPr lang="en-US" sz="2150" dirty="0"/>
          </a:p>
        </p:txBody>
      </p:sp>
      <p:sp>
        <p:nvSpPr>
          <p:cNvPr id="15" name="Text 10"/>
          <p:cNvSpPr/>
          <p:nvPr/>
        </p:nvSpPr>
        <p:spPr>
          <a:xfrm>
            <a:off x="7635716" y="5526286"/>
            <a:ext cx="6213157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Add, edit, delete.</a:t>
            </a:r>
            <a:endParaRPr lang="en-US" sz="1750" dirty="0"/>
          </a:p>
        </p:txBody>
      </p:sp>
      <p:sp>
        <p:nvSpPr>
          <p:cNvPr id="16" name="Shape 11"/>
          <p:cNvSpPr/>
          <p:nvPr/>
        </p:nvSpPr>
        <p:spPr>
          <a:xfrm>
            <a:off x="6739890" y="6817281"/>
            <a:ext cx="669846" cy="30480"/>
          </a:xfrm>
          <a:prstGeom prst="roundRect">
            <a:avLst>
              <a:gd name="adj" fmla="val 109898"/>
            </a:avLst>
          </a:prstGeom>
          <a:solidFill>
            <a:srgbClr val="555553"/>
          </a:solidFill>
          <a:ln/>
        </p:spPr>
      </p:sp>
      <p:sp>
        <p:nvSpPr>
          <p:cNvPr id="17" name="Shape 12"/>
          <p:cNvSpPr/>
          <p:nvPr/>
        </p:nvSpPr>
        <p:spPr>
          <a:xfrm>
            <a:off x="6267926" y="6581299"/>
            <a:ext cx="502444" cy="502444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1687" y="6623209"/>
            <a:ext cx="334923" cy="418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635716" y="6553319"/>
            <a:ext cx="296787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Budget Management</a:t>
            </a:r>
            <a:endParaRPr lang="en-US" sz="2150" dirty="0"/>
          </a:p>
        </p:txBody>
      </p:sp>
      <p:sp>
        <p:nvSpPr>
          <p:cNvPr id="20" name="Text 14"/>
          <p:cNvSpPr/>
          <p:nvPr/>
        </p:nvSpPr>
        <p:spPr>
          <a:xfrm>
            <a:off x="7635716" y="7036118"/>
            <a:ext cx="6213157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Set monthly budget.</a:t>
            </a:r>
            <a:endParaRPr lang="en-US" sz="17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CC44628-C600-981E-5351-625DAD2640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375" y="824805"/>
            <a:ext cx="5956331" cy="679186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09AFB11-6F48-8907-1B94-2E050E75DB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85445" y="7790024"/>
            <a:ext cx="2343477" cy="438211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0668" y="1252330"/>
            <a:ext cx="5543371" cy="57249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59424"/>
            <a:ext cx="69063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Security Considerations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10836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Data security is a crucial aspect of the expense management system.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98156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260" y="4024074"/>
            <a:ext cx="340162" cy="4252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17306" y="39815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Data Encryption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017306" y="447198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Ensuring secure communication and storage.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6280190" y="531685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5260" y="5359360"/>
            <a:ext cx="340162" cy="4252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017306" y="5316855"/>
            <a:ext cx="31962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Secure Authentication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017306" y="5807273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Preventing unauthorized access.</a:t>
            </a:r>
            <a:endParaRPr lang="en-US" sz="17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084F707-E01D-0150-A71B-8F3A99C2CF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86923" y="7692190"/>
            <a:ext cx="2343477" cy="438211"/>
          </a:xfrm>
          <a:prstGeom prst="rect">
            <a:avLst/>
          </a:prstGeom>
        </p:spPr>
      </p:pic>
    </p:spTree>
  </p:cSld>
  <p:clrMapOvr>
    <a:masterClrMapping/>
  </p:clrMapOvr>
  <p:transition spd="slow">
    <p:push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5425" y="428506"/>
            <a:ext cx="4345781" cy="486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EDEDE8"/>
                </a:solidFill>
                <a:latin typeface="Tomorrow Semi Bold" pitchFamily="34" charset="0"/>
              </a:rPr>
              <a:t>PROJECT STACK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461025" y="1955047"/>
            <a:ext cx="13539549" cy="249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4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expense management system consists of a frontend, backend, and database.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62F09F-3492-E3A0-95D2-EAF3F35B3F04}"/>
              </a:ext>
            </a:extLst>
          </p:cNvPr>
          <p:cNvSpPr txBox="1"/>
          <p:nvPr/>
        </p:nvSpPr>
        <p:spPr>
          <a:xfrm>
            <a:off x="545425" y="2803455"/>
            <a:ext cx="644118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C9C9C0"/>
                </a:solidFill>
                <a:latin typeface="Tomorrow" pitchFamily="34" charset="0"/>
              </a:rPr>
              <a:t>Frontend Tools     -     </a:t>
            </a:r>
            <a:r>
              <a:rPr lang="en-IN" sz="2000" dirty="0">
                <a:solidFill>
                  <a:srgbClr val="C9C9C0"/>
                </a:solidFill>
                <a:latin typeface="Tomorrow" pitchFamily="34" charset="0"/>
              </a:rPr>
              <a:t>HTML / CSS / JAVASCRIPT</a:t>
            </a:r>
          </a:p>
          <a:p>
            <a:endParaRPr lang="en-IN" sz="2000" dirty="0">
              <a:solidFill>
                <a:srgbClr val="C9C9C0"/>
              </a:solidFill>
              <a:latin typeface="Tomorrow" pitchFamily="34" charset="0"/>
            </a:endParaRPr>
          </a:p>
          <a:p>
            <a:r>
              <a:rPr lang="en-IN" sz="2400" dirty="0">
                <a:solidFill>
                  <a:srgbClr val="C9C9C0"/>
                </a:solidFill>
                <a:latin typeface="Tomorrow" pitchFamily="34" charset="0"/>
              </a:rPr>
              <a:t>Backend Tools      -     </a:t>
            </a:r>
            <a:r>
              <a:rPr lang="en-IN" sz="2000" dirty="0">
                <a:solidFill>
                  <a:srgbClr val="C9C9C0"/>
                </a:solidFill>
                <a:latin typeface="Tomorrow" pitchFamily="34" charset="0"/>
              </a:rPr>
              <a:t>PHP</a:t>
            </a:r>
          </a:p>
          <a:p>
            <a:endParaRPr lang="en-IN" sz="2000" dirty="0">
              <a:solidFill>
                <a:srgbClr val="C9C9C0"/>
              </a:solidFill>
              <a:latin typeface="Tomorrow" pitchFamily="34" charset="0"/>
            </a:endParaRPr>
          </a:p>
          <a:p>
            <a:r>
              <a:rPr lang="en-IN" sz="2400" dirty="0">
                <a:solidFill>
                  <a:srgbClr val="C9C9C0"/>
                </a:solidFill>
                <a:latin typeface="Tomorrow" pitchFamily="34" charset="0"/>
              </a:rPr>
              <a:t>Database                 -     </a:t>
            </a:r>
            <a:r>
              <a:rPr lang="en-IN" sz="2000" dirty="0">
                <a:solidFill>
                  <a:srgbClr val="C9C9C0"/>
                </a:solidFill>
                <a:latin typeface="Tomorrow" pitchFamily="34" charset="0"/>
              </a:rPr>
              <a:t>MySQL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5901774-1A0A-BAE2-6D1B-ADC40EF13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25" y="4907964"/>
            <a:ext cx="12803387" cy="28864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CF8C82-84A6-AC41-99B8-44F61D91A2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6923" y="7785602"/>
            <a:ext cx="2343477" cy="4382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diamond/>
      </p:transition>
    </mc:Choice>
    <mc:Fallback>
      <p:transition spd="slow">
        <p:diamond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1CE4C-6B56-5E2D-9D89-7A76DD930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BC67AB9-41C4-3EB6-C905-413ED048929C}"/>
              </a:ext>
            </a:extLst>
          </p:cNvPr>
          <p:cNvSpPr txBox="1"/>
          <p:nvPr/>
        </p:nvSpPr>
        <p:spPr>
          <a:xfrm>
            <a:off x="5525287" y="458925"/>
            <a:ext cx="29322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solidFill>
                  <a:srgbClr val="EDEDE8"/>
                </a:solidFill>
                <a:latin typeface="Tomorrow Semi Bold" pitchFamily="34" charset="0"/>
              </a:rPr>
              <a:t>USER LOGIN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277B22F-43F0-E18B-FC59-9D53711816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04" r="3304"/>
          <a:stretch/>
        </p:blipFill>
        <p:spPr>
          <a:xfrm>
            <a:off x="1455234" y="1662562"/>
            <a:ext cx="11719932" cy="5950272"/>
          </a:xfrm>
          <a:prstGeom prst="roundRect">
            <a:avLst>
              <a:gd name="adj" fmla="val 3439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12964F-414B-0810-53E5-FE3920322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6923" y="7785602"/>
            <a:ext cx="2343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2107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E005B-D272-C550-FE0C-2F755B42E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550A440C-940D-D04F-3653-5070D8CE6BCE}"/>
              </a:ext>
            </a:extLst>
          </p:cNvPr>
          <p:cNvSpPr txBox="1"/>
          <p:nvPr/>
        </p:nvSpPr>
        <p:spPr>
          <a:xfrm>
            <a:off x="5525287" y="458925"/>
            <a:ext cx="47660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solidFill>
                  <a:srgbClr val="EDEDE8"/>
                </a:solidFill>
                <a:latin typeface="Tomorrow Semi Bold" pitchFamily="34" charset="0"/>
              </a:rPr>
              <a:t>USER REGISTRATION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82E41DC-B444-E2D8-8673-86B234EE30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40" r="2940"/>
          <a:stretch/>
        </p:blipFill>
        <p:spPr>
          <a:xfrm>
            <a:off x="1455234" y="1662562"/>
            <a:ext cx="11719932" cy="5950272"/>
          </a:xfrm>
          <a:prstGeom prst="roundRect">
            <a:avLst>
              <a:gd name="adj" fmla="val 3439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10269D-EF19-80DA-D9AB-98C32A1048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6923" y="7785602"/>
            <a:ext cx="2343477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4029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EC8A4-CC1C-0FDD-749F-EA6EFA4B4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345F0862-2396-FB73-B7F7-202FE5B93BD9}"/>
              </a:ext>
            </a:extLst>
          </p:cNvPr>
          <p:cNvSpPr txBox="1"/>
          <p:nvPr/>
        </p:nvSpPr>
        <p:spPr>
          <a:xfrm>
            <a:off x="5525287" y="458925"/>
            <a:ext cx="29322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solidFill>
                  <a:srgbClr val="EDEDE8"/>
                </a:solidFill>
                <a:latin typeface="Tomorrow Semi Bold" pitchFamily="34" charset="0"/>
              </a:rPr>
              <a:t>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E5B05C-CC1B-E7CC-889B-7C424063C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6923" y="7785602"/>
            <a:ext cx="2343477" cy="4382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FA37BC-5B16-3C9F-987C-04AA3CFC72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9944" y="1536702"/>
            <a:ext cx="11470511" cy="6079440"/>
          </a:xfrm>
          <a:prstGeom prst="roundRect">
            <a:avLst>
              <a:gd name="adj" fmla="val 4482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6264097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F2A42-266F-B62B-1800-DDA8595FD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E25F9FFD-0C99-0861-940B-240E7B74B500}"/>
              </a:ext>
            </a:extLst>
          </p:cNvPr>
          <p:cNvSpPr txBox="1"/>
          <p:nvPr/>
        </p:nvSpPr>
        <p:spPr>
          <a:xfrm>
            <a:off x="5525287" y="458925"/>
            <a:ext cx="39982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solidFill>
                  <a:srgbClr val="EDEDE8"/>
                </a:solidFill>
                <a:latin typeface="Tomorrow Semi Bold" pitchFamily="34" charset="0"/>
              </a:rPr>
              <a:t>EXPENSE REPORT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922B57-3745-7349-D710-F6916E23E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6923" y="7785602"/>
            <a:ext cx="2343477" cy="4382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975B2A-5808-47C9-C48B-AA6E484DA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8718" y="1689904"/>
            <a:ext cx="10370917" cy="5972537"/>
          </a:xfrm>
          <a:prstGeom prst="roundRect">
            <a:avLst>
              <a:gd name="adj" fmla="val 252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4023530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/>
        </p:blipFill>
        <p:spPr>
          <a:xfrm>
            <a:off x="0" y="1371600"/>
            <a:ext cx="5486400" cy="5486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52794"/>
            <a:ext cx="7556421" cy="70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</a:rPr>
              <a:t>LIVE PROJECT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764698"/>
            <a:ext cx="7556421" cy="566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IN" sz="2800" dirty="0">
                <a:solidFill>
                  <a:schemeClr val="accent6"/>
                </a:solidFill>
                <a:latin typeface="Tomorrow" panose="020B060402020202020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Expense Management</a:t>
            </a:r>
            <a:endParaRPr lang="en-US" sz="2800" dirty="0">
              <a:solidFill>
                <a:schemeClr val="accent6"/>
              </a:solidFill>
              <a:latin typeface="Tomorrow" panose="020B0604020202020204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0190" y="4728567"/>
            <a:ext cx="566976" cy="5669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80190" y="5522357"/>
            <a:ext cx="2291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Performance</a:t>
            </a:r>
            <a:endParaRPr lang="en-US" sz="2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2304" y="4728567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12304" y="5522357"/>
            <a:ext cx="22920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Infrastructure</a:t>
            </a:r>
            <a:endParaRPr lang="en-US" sz="22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44538" y="4728567"/>
            <a:ext cx="566976" cy="56697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1544538" y="5522357"/>
            <a:ext cx="2291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Security</a:t>
            </a:r>
            <a:endParaRPr lang="en-US" sz="2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2BBDBC2-BECE-CFF9-B58E-3A4C103844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86923" y="7791389"/>
            <a:ext cx="2343477" cy="4382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42792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7686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Expense Management System is a valuable tool for financial awareness.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457819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It provides a reliable, secure, and efficient platform for tracking and managing expenses.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43877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Thank you.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358</Words>
  <Application>Microsoft Office PowerPoint</Application>
  <PresentationFormat>Custom</PresentationFormat>
  <Paragraphs>86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Bookman Old Style</vt:lpstr>
      <vt:lpstr>Tomorrow Semi Bold</vt:lpstr>
      <vt:lpstr>Microsoft Himalaya</vt:lpstr>
      <vt:lpstr>Arial</vt:lpstr>
      <vt:lpstr>Tomorrow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Arun N</cp:lastModifiedBy>
  <cp:revision>13</cp:revision>
  <dcterms:created xsi:type="dcterms:W3CDTF">2025-04-08T06:28:43Z</dcterms:created>
  <dcterms:modified xsi:type="dcterms:W3CDTF">2025-04-08T17:41:55Z</dcterms:modified>
</cp:coreProperties>
</file>